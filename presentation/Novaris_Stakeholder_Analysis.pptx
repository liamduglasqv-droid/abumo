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Context &amp; axes" id="{46948fc4-12ac-1c16-8108-888ffc75bbcb}">
          <p14:sldIdLst>
            <p14:sldId id="256"/>
            <p14:sldId id="257"/>
            <p14:sldId id="258"/>
          </p14:sldIdLst>
        </p14:section>
        <p14:section name="2 · The map" id="{7d41b07c-003b-03c5-d19d-143ee57ef72e}">
          <p14:sldIdLst>
            <p14:sldId id="259"/>
            <p14:sldId id="260"/>
          </p14:sldIdLst>
        </p14:section>
        <p14:section name="3 · Moving the critical few" id="{06758f61-516d-083f-e32f-e0d81dcbe5a4}">
          <p14:sldIdLst>
            <p14:sldId id="261"/>
            <p14:sldId id="262"/>
            <p14:sldId id="263"/>
            <p14:sldId id="264"/>
            <p14:sldId id="265"/>
          </p14:sldIdLst>
        </p14:section>
        <p14:section name="Backup" id="{9ef40d33-7be0-2531-780b-6b470c98da2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~10s. Introduce: we are Anna Li's team, stakeholder analysis for the Novaris student AI portal. One question drives the whole talk: who has to change for this transition to go smoothly?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Students already use AI everywhere: public tools, subscriptions, employer software. Faculty rules are inconsistent and the school sees nothing. We cannot stop it — the only variable is whether Novaris adapts in a controlled way or gets dragged along. So the project is managing a transition, not building a tool. That's also why we reframe Marc's promise: safer, governed, transparent — not risk-free. The key question for stakeholder analysis becomes: who has to change, and are they ready?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The classic power/interest grid fails here. Power: nobody controls whether students use AI. Interest: nobody asked for this, so everyone sits at zero. Because the project is a transition, we map adaptation effort — how much each stakeholder must rewrite — against readiness — do they know, can they, do they want to. Interest stays in the register only as a warning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Here is everyone, internal and external. Up means more of their work must be rewritten; right means more ready. The pattern jumps out: the top-left — FOCUS HERE — is academics and HR. The bottom-right, our allies, is leadership, the sponsor and students, who have little to change. Bottom-left we simply inform: CFO, Board, publishers, partners. Top-right we equip: IT, legal, international campuses. These positions are our inferences from the 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~50s. Our three critical stakeholders are the ones in the top-left: the most to change, the least prepared. 1) Élodie Martin, Academic Dean: assessment and what a grade certifies must be rebuilt, and she sets the rules every faculty member follows. 2) Restrictive faculty and programme directors: they rewrite syllabi and exams, and today they ban AI. 3) Laura Bianchi: any logging of prompts is a monitoring question with the works council, right after a restructuring. Note we did NOT pick the CFO or the CIO: they matter, but the CFO only has to approve a bounded pilot, and the CIO is willing — she needs tools, not persuasion.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Now we clear the map and keep only the critical three and the people who can move them. Colour is attitude. Élodie and Laura are grey — torn, not opposed — which means they are movable. Only restrictive faculty are against. The arrows show the channels: pro-AI faculty are peers of both Élodie and restrictive faculty — the strongest lever we have. Élodie herself then moves restrictive faculty through academic authority. Students push through employability demand. For Laura, the channel is Legal/DPO and the CIO — privacy by design — backed by the Dean. Marc, the sponsor, is deliberately not an arrow: a top-down push from Operations is exactly what academics resist.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Élodie is the critical case. Her interest runs both ways: AI literacy is now an employability requirement, and a governed portal beats invisible use — but she must rebuild assessment, and an official tool could look like endorsing AI-written answers. Ambivalence is movability. Solve her assessment worry — give her ownership through a co-design group and per-course rules — and she flips.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~25s. Restrictive faculty are the only group clearly against. Not because they're anti-change: the workload lands on them, they have no tools, and they fear for their content. We don't mandate — we let them keep an AI-off switch in an opt-in pilot, and let their own colleagues show what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~25s. Laura isn't against the portal, but she can't be surprised by it. The logging question is a monitoring question, right after a restructuring. We bring her in before the decision is made, keep phase 1 students-only, and let Legal/DPO and the CIO show privacy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~25s. To close: we can't stop AI adoption, so the project is the transition. The people who must change most are least prepared; the people most prepared have least to change. Our job is connecting the two: recruit pro-AI faculty and students as the channel, remove the focus group's blockers before launch, run a bounded Paris pilot — and redraw this map at every phase, because stakeholder analysis is iterative.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 — not presented. Full register with quadrant, attitude, interest flag and the change each stakeholder has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Novaris AI Portal  ·  Stakeholder analysis  ·  Anna Li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Who has to change for Novaris to become an AI school?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Stakeholder analysis for the student AI portal  ·  Anna Li  ·  SKEMA Project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81328"/>
            <a:ext cx="28346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CONTEXT &amp; AXES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project isn't a tool — it's a transition that is already happening</a:t>
            </a:r>
            <a:endParaRPr lang="en-US" sz="2600" dirty="0"/>
          </a:p>
        </p:txBody>
      </p:sp>
      <p:sp>
        <p:nvSpPr>
          <p:cNvPr id="4" name="Card SITUATION"/>
          <p:cNvSpPr/>
          <p:nvPr/>
        </p:nvSpPr>
        <p:spPr>
          <a:xfrm>
            <a:off x="548640" y="1600200"/>
            <a:ext cx="34290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SITUATION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Students already use AI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Free public tools, paid subscriptions, employer software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Faculty rules inconsistent: some encourage, some ban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school has no visibility on tools or data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136392"/>
            <a:ext cx="219456" cy="219456"/>
          </a:xfrm>
          <a:prstGeom prst="rect">
            <a:avLst/>
          </a:prstGeom>
        </p:spPr>
      </p:pic>
      <p:sp>
        <p:nvSpPr>
          <p:cNvPr id="11" name="Card COMPLICATION"/>
          <p:cNvSpPr/>
          <p:nvPr/>
        </p:nvSpPr>
        <p:spPr>
          <a:xfrm>
            <a:off x="4343400" y="1600200"/>
            <a:ext cx="34290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116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COMPLICATION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2606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It can't be stopped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32004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Banning it only pushes use out of sight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only choice left: adapt in control, or get dragged along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136392"/>
            <a:ext cx="219456" cy="219456"/>
          </a:xfrm>
          <a:prstGeom prst="rect">
            <a:avLst/>
          </a:prstGeom>
        </p:spPr>
      </p:pic>
      <p:sp>
        <p:nvSpPr>
          <p:cNvPr id="18" name="Card KEY QUESTION"/>
          <p:cNvSpPr/>
          <p:nvPr/>
        </p:nvSpPr>
        <p:spPr>
          <a:xfrm>
            <a:off x="8138160" y="1600200"/>
            <a:ext cx="342900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</p:sp>
      <p:sp>
        <p:nvSpPr>
          <p:cNvPr id="19" name="Shape 13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0116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9828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KEY QUESTION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8412480" y="2606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Who has to change the way they work — and are they ready?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468112"/>
            <a:ext cx="265176" cy="26517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4440" y="5257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 the charter promises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safer, governed, transparent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AI use — not “risk-free”. No platform can guarantee every prompt, answer or output is legal and accurate.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CONTEXT &amp; AXES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we map effort and readiness, not power and interest</a:t>
            </a:r>
            <a:endParaRPr lang="en-US" sz="2600" dirty="0"/>
          </a:p>
        </p:txBody>
      </p:sp>
      <p:sp>
        <p:nvSpPr>
          <p:cNvPr id="4" name="Traditional card"/>
          <p:cNvSpPr/>
          <p:nvPr/>
        </p:nvSpPr>
        <p:spPr>
          <a:xfrm>
            <a:off x="54864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TRADITIONAL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Power × Interest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26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8803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Power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Nobody has real power over student AI use — students use it anyway, publishers can't switch off public tools.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89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43434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Almost nobody asked for this project. Everyone scores near zero, so the axis separates no one.</a:t>
            </a:r>
            <a:endParaRPr lang="en-US" sz="1500" dirty="0"/>
          </a:p>
        </p:txBody>
      </p:sp>
      <p:sp>
        <p:nvSpPr>
          <p:cNvPr id="10" name="Our axes card"/>
          <p:cNvSpPr/>
          <p:nvPr/>
        </p:nvSpPr>
        <p:spPr>
          <a:xfrm>
            <a:off x="6291072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11112" y="18288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OURS — BUILT FOR A TRANSITION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Adaptation effort × Readiness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926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28803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Adaptation effort  (vertical)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How much of their rules, processes or habits must be rewritten.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3891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68312" y="43434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Readiness  (horizontal)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 they know it's coming, can they handle it, do they want to?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6868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Interest isn't dropped: it stays in the register as a warning flag — high impact + low interest = risk of being blindsided (publishers, regulators, Board).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611112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question becomes: who must change the most, and who is least prepared to?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THE MAP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Those who must change the most are the least prepared</a:t>
            </a:r>
            <a:endParaRPr lang="en-US" sz="2600" dirty="0"/>
          </a:p>
        </p:txBody>
      </p:sp>
      <p:sp>
        <p:nvSpPr>
          <p:cNvPr id="4" name="Map panel"/>
          <p:cNvSpPr/>
          <p:nvPr/>
        </p:nvSpPr>
        <p:spPr>
          <a:xfrm>
            <a:off x="1143000" y="1463040"/>
            <a:ext cx="685800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Focus quadrant"/>
          <p:cNvSpPr/>
          <p:nvPr/>
        </p:nvSpPr>
        <p:spPr>
          <a:xfrm>
            <a:off x="1143000" y="1463040"/>
            <a:ext cx="3429000" cy="22631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645920"/>
            <a:ext cx="0" cy="416052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726180"/>
            <a:ext cx="6492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Quadrant FOCUS HERE"/>
          <p:cNvSpPr txBox="1"/>
          <p:nvPr/>
        </p:nvSpPr>
        <p:spPr>
          <a:xfrm>
            <a:off x="12801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FOCUS HERE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Must change a lot · not equipped</a:t>
            </a:r>
            <a:endParaRPr lang="en-US" sz="1200" dirty="0"/>
          </a:p>
        </p:txBody>
      </p:sp>
      <p:sp>
        <p:nvSpPr>
          <p:cNvPr id="9" name="Quadrant EQUIP"/>
          <p:cNvSpPr txBox="1"/>
          <p:nvPr/>
        </p:nvSpPr>
        <p:spPr>
          <a:xfrm>
            <a:off x="54864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EQUIP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Willing · need tools &amp; clarity</a:t>
            </a:r>
            <a:endParaRPr lang="en-US" sz="1200" dirty="0"/>
          </a:p>
        </p:txBody>
      </p:sp>
      <p:sp>
        <p:nvSpPr>
          <p:cNvPr id="10" name="Quadrant INFORM"/>
          <p:cNvSpPr txBox="1"/>
          <p:nvPr/>
        </p:nvSpPr>
        <p:spPr>
          <a:xfrm>
            <a:off x="128016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INFORM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Don't invest · don't surprise</a:t>
            </a:r>
            <a:endParaRPr lang="en-US" sz="1200" dirty="0"/>
          </a:p>
        </p:txBody>
      </p:sp>
      <p:sp>
        <p:nvSpPr>
          <p:cNvPr id="11" name="Quadrant ALLIES"/>
          <p:cNvSpPr txBox="1"/>
          <p:nvPr/>
        </p:nvSpPr>
        <p:spPr>
          <a:xfrm>
            <a:off x="548640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ALLIES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Use them to move the focus group</a:t>
            </a:r>
            <a:endParaRPr lang="en-US" sz="1200" dirty="0"/>
          </a:p>
        </p:txBody>
      </p:sp>
      <p:sp>
        <p:nvSpPr>
          <p:cNvPr id="12" name="Y axis"/>
          <p:cNvSpPr/>
          <p:nvPr/>
        </p:nvSpPr>
        <p:spPr>
          <a:xfrm>
            <a:off x="978408" y="1325880"/>
            <a:ext cx="0" cy="4828032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3" name="X axis"/>
          <p:cNvSpPr/>
          <p:nvPr/>
        </p:nvSpPr>
        <p:spPr>
          <a:xfrm>
            <a:off x="978408" y="6153912"/>
            <a:ext cx="7205472" cy="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00400" y="6227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Readiness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 rot="16200000">
            <a:off x="-804672" y="35890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Adaptation effort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109728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1097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Dot Élodie Martin"/>
          <p:cNvSpPr/>
          <p:nvPr/>
        </p:nvSpPr>
        <p:spPr>
          <a:xfrm>
            <a:off x="3314700" y="2231593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Label Élodie Martin"/>
          <p:cNvSpPr txBox="1"/>
          <p:nvPr/>
        </p:nvSpPr>
        <p:spPr>
          <a:xfrm>
            <a:off x="2697480" y="2441905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Élodie Martin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Academic Dean</a:t>
            </a:r>
            <a:endParaRPr lang="en-US" sz="1100" dirty="0"/>
          </a:p>
        </p:txBody>
      </p:sp>
      <p:sp>
        <p:nvSpPr>
          <p:cNvPr id="22" name="Dot Restrictive faculty"/>
          <p:cNvSpPr/>
          <p:nvPr/>
        </p:nvSpPr>
        <p:spPr>
          <a:xfrm>
            <a:off x="1908810" y="2774747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Label Restrictive faculty"/>
          <p:cNvSpPr txBox="1"/>
          <p:nvPr/>
        </p:nvSpPr>
        <p:spPr>
          <a:xfrm>
            <a:off x="1291590" y="2985059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Restrictive faculty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&amp; programme directors</a:t>
            </a:r>
            <a:endParaRPr lang="en-US" sz="1100" dirty="0"/>
          </a:p>
        </p:txBody>
      </p:sp>
      <p:sp>
        <p:nvSpPr>
          <p:cNvPr id="24" name="Dot Laura Bianchi"/>
          <p:cNvSpPr/>
          <p:nvPr/>
        </p:nvSpPr>
        <p:spPr>
          <a:xfrm>
            <a:off x="3520440" y="3001061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Label Laura Bianchi"/>
          <p:cNvSpPr txBox="1"/>
          <p:nvPr/>
        </p:nvSpPr>
        <p:spPr>
          <a:xfrm>
            <a:off x="2903220" y="3211373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Laura Bianchi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People &amp; Faculty</a:t>
            </a:r>
            <a:endParaRPr lang="en-US" sz="1100" dirty="0"/>
          </a:p>
        </p:txBody>
      </p:sp>
      <p:sp>
        <p:nvSpPr>
          <p:cNvPr id="26" name="Dot Aisha Khan"/>
          <p:cNvSpPr/>
          <p:nvPr/>
        </p:nvSpPr>
        <p:spPr>
          <a:xfrm>
            <a:off x="5440680" y="2276856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7" name="Label Aisha Khan"/>
          <p:cNvSpPr txBox="1"/>
          <p:nvPr/>
        </p:nvSpPr>
        <p:spPr>
          <a:xfrm>
            <a:off x="4823460" y="2487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Aisha Khan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CIO</a:t>
            </a:r>
            <a:endParaRPr lang="en-US" sz="1100" dirty="0"/>
          </a:p>
        </p:txBody>
      </p:sp>
      <p:sp>
        <p:nvSpPr>
          <p:cNvPr id="28" name="Dot Rafael Mendes"/>
          <p:cNvSpPr/>
          <p:nvPr/>
        </p:nvSpPr>
        <p:spPr>
          <a:xfrm>
            <a:off x="7018020" y="2457907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9" name="Label Rafael Mendes"/>
          <p:cNvSpPr txBox="1"/>
          <p:nvPr/>
        </p:nvSpPr>
        <p:spPr>
          <a:xfrm>
            <a:off x="6400800" y="2668219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Rafael Mendes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Intl. campuses</a:t>
            </a:r>
            <a:endParaRPr lang="en-US" sz="1100" dirty="0"/>
          </a:p>
        </p:txBody>
      </p:sp>
      <p:sp>
        <p:nvSpPr>
          <p:cNvPr id="30" name="Dot Legal / DPO"/>
          <p:cNvSpPr/>
          <p:nvPr/>
        </p:nvSpPr>
        <p:spPr>
          <a:xfrm>
            <a:off x="5577840" y="3091586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Label Legal / DPO"/>
          <p:cNvSpPr txBox="1"/>
          <p:nvPr/>
        </p:nvSpPr>
        <p:spPr>
          <a:xfrm>
            <a:off x="4960620" y="330189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Legal / DPO</a:t>
            </a:r>
            <a:endParaRPr lang="en-US" sz="1100" dirty="0"/>
          </a:p>
        </p:txBody>
      </p:sp>
      <p:sp>
        <p:nvSpPr>
          <p:cNvPr id="32" name="Dot Library"/>
          <p:cNvSpPr/>
          <p:nvPr/>
        </p:nvSpPr>
        <p:spPr>
          <a:xfrm>
            <a:off x="7018020" y="3227375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Label Library"/>
          <p:cNvSpPr txBox="1"/>
          <p:nvPr/>
        </p:nvSpPr>
        <p:spPr>
          <a:xfrm>
            <a:off x="6400800" y="3437687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Library</a:t>
            </a:r>
            <a:endParaRPr lang="en-US" sz="1100" dirty="0"/>
          </a:p>
        </p:txBody>
      </p:sp>
      <p:sp>
        <p:nvSpPr>
          <p:cNvPr id="34" name="Dot Pro-AI faculty"/>
          <p:cNvSpPr/>
          <p:nvPr/>
        </p:nvSpPr>
        <p:spPr>
          <a:xfrm>
            <a:off x="5372100" y="395158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Label Pro-AI faculty"/>
          <p:cNvSpPr txBox="1"/>
          <p:nvPr/>
        </p:nvSpPr>
        <p:spPr>
          <a:xfrm>
            <a:off x="4754880" y="41618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Pro-AI faculty</a:t>
            </a:r>
            <a:endParaRPr lang="en-US" sz="1100" dirty="0"/>
          </a:p>
        </p:txBody>
      </p:sp>
      <p:sp>
        <p:nvSpPr>
          <p:cNvPr id="36" name="Dot Marc Lefèvre"/>
          <p:cNvSpPr/>
          <p:nvPr/>
        </p:nvSpPr>
        <p:spPr>
          <a:xfrm>
            <a:off x="6949440" y="395158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7" name="Label Marc Lefèvre"/>
          <p:cNvSpPr txBox="1"/>
          <p:nvPr/>
        </p:nvSpPr>
        <p:spPr>
          <a:xfrm>
            <a:off x="633222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Marc Lefèvre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Sponsor</a:t>
            </a:r>
            <a:endParaRPr lang="en-US" sz="1100" dirty="0"/>
          </a:p>
        </p:txBody>
      </p:sp>
      <p:sp>
        <p:nvSpPr>
          <p:cNvPr id="38" name="Dot Transformation Office"/>
          <p:cNvSpPr/>
          <p:nvPr/>
        </p:nvSpPr>
        <p:spPr>
          <a:xfrm>
            <a:off x="5372100" y="4721047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9" name="Label Transformation Office"/>
          <p:cNvSpPr txBox="1"/>
          <p:nvPr/>
        </p:nvSpPr>
        <p:spPr>
          <a:xfrm>
            <a:off x="4754880" y="493135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Transformation Office</a:t>
            </a:r>
            <a:endParaRPr lang="en-US" sz="1100" dirty="0"/>
          </a:p>
        </p:txBody>
      </p:sp>
      <p:sp>
        <p:nvSpPr>
          <p:cNvPr id="40" name="Dot Claire Moreau"/>
          <p:cNvSpPr/>
          <p:nvPr/>
        </p:nvSpPr>
        <p:spPr>
          <a:xfrm>
            <a:off x="6606540" y="4585259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1" name="Label Claire Moreau"/>
          <p:cNvSpPr txBox="1"/>
          <p:nvPr/>
        </p:nvSpPr>
        <p:spPr>
          <a:xfrm>
            <a:off x="5989320" y="4795571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Claire Moreau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President &amp; Dean</a:t>
            </a:r>
            <a:endParaRPr lang="en-US" sz="1100" dirty="0"/>
          </a:p>
        </p:txBody>
      </p:sp>
      <p:sp>
        <p:nvSpPr>
          <p:cNvPr id="42" name="Dot Students"/>
          <p:cNvSpPr/>
          <p:nvPr/>
        </p:nvSpPr>
        <p:spPr>
          <a:xfrm>
            <a:off x="7566660" y="5173675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3" name="Label Students"/>
          <p:cNvSpPr txBox="1"/>
          <p:nvPr/>
        </p:nvSpPr>
        <p:spPr>
          <a:xfrm>
            <a:off x="6076188" y="5155387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Students</a:t>
            </a:r>
            <a:endParaRPr lang="en-US" sz="1100" dirty="0"/>
          </a:p>
        </p:txBody>
      </p:sp>
      <p:sp>
        <p:nvSpPr>
          <p:cNvPr id="44" name="Dot Sophie Bernard"/>
          <p:cNvSpPr/>
          <p:nvPr/>
        </p:nvSpPr>
        <p:spPr>
          <a:xfrm>
            <a:off x="3589020" y="4630522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5" name="Label Sophie Bernard"/>
          <p:cNvSpPr txBox="1"/>
          <p:nvPr/>
        </p:nvSpPr>
        <p:spPr>
          <a:xfrm>
            <a:off x="2971800" y="484083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Sophie Bernard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CFO</a:t>
            </a:r>
            <a:endParaRPr lang="en-US" sz="1100" dirty="0"/>
          </a:p>
        </p:txBody>
      </p:sp>
      <p:sp>
        <p:nvSpPr>
          <p:cNvPr id="46" name="Dot Board of Governors"/>
          <p:cNvSpPr/>
          <p:nvPr/>
        </p:nvSpPr>
        <p:spPr>
          <a:xfrm>
            <a:off x="2080260" y="4721047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7" name="Label Board of Governors"/>
          <p:cNvSpPr txBox="1"/>
          <p:nvPr/>
        </p:nvSpPr>
        <p:spPr>
          <a:xfrm>
            <a:off x="1463040" y="493135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Board of Governors</a:t>
            </a:r>
            <a:endParaRPr lang="en-US" sz="1100" dirty="0"/>
          </a:p>
        </p:txBody>
      </p:sp>
      <p:sp>
        <p:nvSpPr>
          <p:cNvPr id="48" name="Dot Publishers"/>
          <p:cNvSpPr/>
          <p:nvPr/>
        </p:nvSpPr>
        <p:spPr>
          <a:xfrm>
            <a:off x="1908810" y="395158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9" name="Label Publishers"/>
          <p:cNvSpPr txBox="1"/>
          <p:nvPr/>
        </p:nvSpPr>
        <p:spPr>
          <a:xfrm>
            <a:off x="129159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Publishers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&amp; case providers</a:t>
            </a:r>
            <a:endParaRPr lang="en-US" sz="1100" dirty="0"/>
          </a:p>
        </p:txBody>
      </p:sp>
      <p:sp>
        <p:nvSpPr>
          <p:cNvPr id="50" name="Dot Employee reps"/>
          <p:cNvSpPr/>
          <p:nvPr/>
        </p:nvSpPr>
        <p:spPr>
          <a:xfrm>
            <a:off x="3451860" y="395158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1" name="Label Employee reps"/>
          <p:cNvSpPr txBox="1"/>
          <p:nvPr/>
        </p:nvSpPr>
        <p:spPr>
          <a:xfrm>
            <a:off x="283464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Employee reps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works council</a:t>
            </a:r>
            <a:endParaRPr lang="en-US" sz="1100" dirty="0"/>
          </a:p>
        </p:txBody>
      </p:sp>
      <p:sp>
        <p:nvSpPr>
          <p:cNvPr id="52" name="Dot Corporate partners"/>
          <p:cNvSpPr/>
          <p:nvPr/>
        </p:nvSpPr>
        <p:spPr>
          <a:xfrm>
            <a:off x="4000500" y="5309464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3" name="Label Corporate partners"/>
          <p:cNvSpPr txBox="1"/>
          <p:nvPr/>
        </p:nvSpPr>
        <p:spPr>
          <a:xfrm>
            <a:off x="2510028" y="52911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Corporate partners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503920" y="14630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HOW TO READ IT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= more of their work has to be rewritten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Right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= more aware, able and willing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03920" y="2926080"/>
            <a:ext cx="3154680" cy="2103120"/>
          </a:xfrm>
          <a:prstGeom prst="roundRect">
            <a:avLst>
              <a:gd name="adj" fmla="val 3478"/>
            </a:avLst>
          </a:prstGeom>
          <a:solidFill>
            <a:schemeClr val="accent5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732520" y="3108960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pattern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top-left is full of academics and HR. The bottom-right is full of leaders and students. The project lives or dies on connecting the two.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8503920" y="5257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Positions are our inferences from the case bios — hypotheses to challenge, not facts.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THE MAP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Three stakeholders decide whether the transition is smooth</a:t>
            </a:r>
            <a:endParaRPr lang="en-US" sz="2600" dirty="0"/>
          </a:p>
        </p:txBody>
      </p:sp>
      <p:sp>
        <p:nvSpPr>
          <p:cNvPr id="4" name="Map panel"/>
          <p:cNvSpPr/>
          <p:nvPr/>
        </p:nvSpPr>
        <p:spPr>
          <a:xfrm>
            <a:off x="1143000" y="1463040"/>
            <a:ext cx="685800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Focus quadrant"/>
          <p:cNvSpPr/>
          <p:nvPr/>
        </p:nvSpPr>
        <p:spPr>
          <a:xfrm>
            <a:off x="1143000" y="1463040"/>
            <a:ext cx="3429000" cy="22631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645920"/>
            <a:ext cx="0" cy="416052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726180"/>
            <a:ext cx="6492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Quadrant FOCUS HERE"/>
          <p:cNvSpPr txBox="1"/>
          <p:nvPr/>
        </p:nvSpPr>
        <p:spPr>
          <a:xfrm>
            <a:off x="12801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FOCUS HERE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Must change a lot · not equipped</a:t>
            </a:r>
            <a:endParaRPr lang="en-US" sz="1200" dirty="0"/>
          </a:p>
        </p:txBody>
      </p:sp>
      <p:sp>
        <p:nvSpPr>
          <p:cNvPr id="9" name="Quadrant EQUIP"/>
          <p:cNvSpPr txBox="1"/>
          <p:nvPr/>
        </p:nvSpPr>
        <p:spPr>
          <a:xfrm>
            <a:off x="54864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EQUIP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Willing · need tools &amp; clarity</a:t>
            </a:r>
            <a:endParaRPr lang="en-US" sz="1200" dirty="0"/>
          </a:p>
        </p:txBody>
      </p:sp>
      <p:sp>
        <p:nvSpPr>
          <p:cNvPr id="10" name="Quadrant INFORM"/>
          <p:cNvSpPr txBox="1"/>
          <p:nvPr/>
        </p:nvSpPr>
        <p:spPr>
          <a:xfrm>
            <a:off x="128016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INFORM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Don't invest · don't surprise</a:t>
            </a:r>
            <a:endParaRPr lang="en-US" sz="1200" dirty="0"/>
          </a:p>
        </p:txBody>
      </p:sp>
      <p:sp>
        <p:nvSpPr>
          <p:cNvPr id="11" name="Quadrant ALLIES"/>
          <p:cNvSpPr txBox="1"/>
          <p:nvPr/>
        </p:nvSpPr>
        <p:spPr>
          <a:xfrm>
            <a:off x="548640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ALLIES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Use them to move the focus group</a:t>
            </a:r>
            <a:endParaRPr lang="en-US" sz="1200" dirty="0"/>
          </a:p>
        </p:txBody>
      </p:sp>
      <p:sp>
        <p:nvSpPr>
          <p:cNvPr id="12" name="Y axis"/>
          <p:cNvSpPr/>
          <p:nvPr/>
        </p:nvSpPr>
        <p:spPr>
          <a:xfrm>
            <a:off x="978408" y="1325880"/>
            <a:ext cx="0" cy="4828032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3" name="X axis"/>
          <p:cNvSpPr/>
          <p:nvPr/>
        </p:nvSpPr>
        <p:spPr>
          <a:xfrm>
            <a:off x="978408" y="6153912"/>
            <a:ext cx="7205472" cy="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00400" y="6227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Readiness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 rot="16200000">
            <a:off x="-804672" y="35890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Adaptation effort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109728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1097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Dot Élodie Martin"/>
          <p:cNvSpPr/>
          <p:nvPr/>
        </p:nvSpPr>
        <p:spPr>
          <a:xfrm>
            <a:off x="3268980" y="2185873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Label Élodie Martin"/>
          <p:cNvSpPr txBox="1"/>
          <p:nvPr/>
        </p:nvSpPr>
        <p:spPr>
          <a:xfrm>
            <a:off x="2697480" y="2487625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Élodie Martin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Academic Dean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5012" y="1948129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5012" y="19481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Dot Restrictive faculty"/>
          <p:cNvSpPr/>
          <p:nvPr/>
        </p:nvSpPr>
        <p:spPr>
          <a:xfrm>
            <a:off x="1863090" y="2729027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Label Restrictive faculty"/>
          <p:cNvSpPr txBox="1"/>
          <p:nvPr/>
        </p:nvSpPr>
        <p:spPr>
          <a:xfrm>
            <a:off x="1291590" y="3030779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Restrictive faculty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&amp; programme directors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19122" y="2491283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19122" y="24912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Dot Laura Bianchi"/>
          <p:cNvSpPr/>
          <p:nvPr/>
        </p:nvSpPr>
        <p:spPr>
          <a:xfrm>
            <a:off x="3474720" y="2955341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Label Laura Bianchi"/>
          <p:cNvSpPr txBox="1"/>
          <p:nvPr/>
        </p:nvSpPr>
        <p:spPr>
          <a:xfrm>
            <a:off x="2903220" y="3257093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Laura Bianchi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People &amp; Faculty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30752" y="2717597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30752" y="27175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Dot Aisha Khan"/>
          <p:cNvSpPr/>
          <p:nvPr/>
        </p:nvSpPr>
        <p:spPr>
          <a:xfrm>
            <a:off x="5440680" y="227685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Label Aisha Khan"/>
          <p:cNvSpPr txBox="1"/>
          <p:nvPr/>
        </p:nvSpPr>
        <p:spPr>
          <a:xfrm>
            <a:off x="4823460" y="2487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Aisha Khan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CIO</a:t>
            </a:r>
            <a:endParaRPr lang="en-US" sz="1100" dirty="0"/>
          </a:p>
        </p:txBody>
      </p:sp>
      <p:sp>
        <p:nvSpPr>
          <p:cNvPr id="34" name="Dot Rafael Mendes"/>
          <p:cNvSpPr/>
          <p:nvPr/>
        </p:nvSpPr>
        <p:spPr>
          <a:xfrm>
            <a:off x="7018020" y="2457907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Label Rafael Mendes"/>
          <p:cNvSpPr txBox="1"/>
          <p:nvPr/>
        </p:nvSpPr>
        <p:spPr>
          <a:xfrm>
            <a:off x="6400800" y="2668219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Rafael Mendes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Intl. campuses</a:t>
            </a:r>
            <a:endParaRPr lang="en-US" sz="1100" dirty="0"/>
          </a:p>
        </p:txBody>
      </p:sp>
      <p:sp>
        <p:nvSpPr>
          <p:cNvPr id="36" name="Dot Legal / DPO"/>
          <p:cNvSpPr/>
          <p:nvPr/>
        </p:nvSpPr>
        <p:spPr>
          <a:xfrm>
            <a:off x="5577840" y="309158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Label Legal / DPO"/>
          <p:cNvSpPr txBox="1"/>
          <p:nvPr/>
        </p:nvSpPr>
        <p:spPr>
          <a:xfrm>
            <a:off x="4960620" y="330189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Legal / DPO</a:t>
            </a:r>
            <a:endParaRPr lang="en-US" sz="1100" dirty="0"/>
          </a:p>
        </p:txBody>
      </p:sp>
      <p:sp>
        <p:nvSpPr>
          <p:cNvPr id="38" name="Dot Library"/>
          <p:cNvSpPr/>
          <p:nvPr/>
        </p:nvSpPr>
        <p:spPr>
          <a:xfrm>
            <a:off x="7018020" y="3227375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Label Library"/>
          <p:cNvSpPr txBox="1"/>
          <p:nvPr/>
        </p:nvSpPr>
        <p:spPr>
          <a:xfrm>
            <a:off x="6400800" y="3437687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Library</a:t>
            </a:r>
            <a:endParaRPr lang="en-US" sz="1100" dirty="0"/>
          </a:p>
        </p:txBody>
      </p:sp>
      <p:sp>
        <p:nvSpPr>
          <p:cNvPr id="40" name="Dot Pro-AI faculty"/>
          <p:cNvSpPr/>
          <p:nvPr/>
        </p:nvSpPr>
        <p:spPr>
          <a:xfrm>
            <a:off x="5372100" y="395158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1" name="Label Pro-AI faculty"/>
          <p:cNvSpPr txBox="1"/>
          <p:nvPr/>
        </p:nvSpPr>
        <p:spPr>
          <a:xfrm>
            <a:off x="4754880" y="41618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Pro-AI faculty</a:t>
            </a:r>
            <a:endParaRPr lang="en-US" sz="1100" dirty="0"/>
          </a:p>
        </p:txBody>
      </p:sp>
      <p:sp>
        <p:nvSpPr>
          <p:cNvPr id="42" name="Dot Marc Lefèvre"/>
          <p:cNvSpPr/>
          <p:nvPr/>
        </p:nvSpPr>
        <p:spPr>
          <a:xfrm>
            <a:off x="6949440" y="395158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Label Marc Lefèvre"/>
          <p:cNvSpPr txBox="1"/>
          <p:nvPr/>
        </p:nvSpPr>
        <p:spPr>
          <a:xfrm>
            <a:off x="633222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Marc Lefèvre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Sponsor</a:t>
            </a:r>
            <a:endParaRPr lang="en-US" sz="1100" dirty="0"/>
          </a:p>
        </p:txBody>
      </p:sp>
      <p:sp>
        <p:nvSpPr>
          <p:cNvPr id="44" name="Dot Transformation Office"/>
          <p:cNvSpPr/>
          <p:nvPr/>
        </p:nvSpPr>
        <p:spPr>
          <a:xfrm>
            <a:off x="5372100" y="4721047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5" name="Label Transformation Office"/>
          <p:cNvSpPr txBox="1"/>
          <p:nvPr/>
        </p:nvSpPr>
        <p:spPr>
          <a:xfrm>
            <a:off x="4754880" y="493135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Transformation Office</a:t>
            </a:r>
            <a:endParaRPr lang="en-US" sz="1100" dirty="0"/>
          </a:p>
        </p:txBody>
      </p:sp>
      <p:sp>
        <p:nvSpPr>
          <p:cNvPr id="46" name="Dot Claire Moreau"/>
          <p:cNvSpPr/>
          <p:nvPr/>
        </p:nvSpPr>
        <p:spPr>
          <a:xfrm>
            <a:off x="6606540" y="4585259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7" name="Label Claire Moreau"/>
          <p:cNvSpPr txBox="1"/>
          <p:nvPr/>
        </p:nvSpPr>
        <p:spPr>
          <a:xfrm>
            <a:off x="5989320" y="4795571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Claire Moreau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President &amp; Dean</a:t>
            </a:r>
            <a:endParaRPr lang="en-US" sz="1100" dirty="0"/>
          </a:p>
        </p:txBody>
      </p:sp>
      <p:sp>
        <p:nvSpPr>
          <p:cNvPr id="48" name="Dot Students"/>
          <p:cNvSpPr/>
          <p:nvPr/>
        </p:nvSpPr>
        <p:spPr>
          <a:xfrm>
            <a:off x="7566660" y="5173675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9" name="Label Students"/>
          <p:cNvSpPr txBox="1"/>
          <p:nvPr/>
        </p:nvSpPr>
        <p:spPr>
          <a:xfrm>
            <a:off x="6076188" y="5155387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Students</a:t>
            </a:r>
            <a:endParaRPr lang="en-US" sz="1100" dirty="0"/>
          </a:p>
        </p:txBody>
      </p:sp>
      <p:sp>
        <p:nvSpPr>
          <p:cNvPr id="50" name="Dot Sophie Bernard"/>
          <p:cNvSpPr/>
          <p:nvPr/>
        </p:nvSpPr>
        <p:spPr>
          <a:xfrm>
            <a:off x="3589020" y="4630522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1" name="Label Sophie Bernard"/>
          <p:cNvSpPr txBox="1"/>
          <p:nvPr/>
        </p:nvSpPr>
        <p:spPr>
          <a:xfrm>
            <a:off x="2971800" y="484083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Sophie Bernard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CFO</a:t>
            </a:r>
            <a:endParaRPr lang="en-US" sz="1100" dirty="0"/>
          </a:p>
        </p:txBody>
      </p:sp>
      <p:sp>
        <p:nvSpPr>
          <p:cNvPr id="52" name="Dot Board of Governors"/>
          <p:cNvSpPr/>
          <p:nvPr/>
        </p:nvSpPr>
        <p:spPr>
          <a:xfrm>
            <a:off x="2080260" y="4721047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3" name="Label Board of Governors"/>
          <p:cNvSpPr txBox="1"/>
          <p:nvPr/>
        </p:nvSpPr>
        <p:spPr>
          <a:xfrm>
            <a:off x="1463040" y="493135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Board of Governors</a:t>
            </a:r>
            <a:endParaRPr lang="en-US" sz="1100" dirty="0"/>
          </a:p>
        </p:txBody>
      </p:sp>
      <p:sp>
        <p:nvSpPr>
          <p:cNvPr id="54" name="Dot Publishers"/>
          <p:cNvSpPr/>
          <p:nvPr/>
        </p:nvSpPr>
        <p:spPr>
          <a:xfrm>
            <a:off x="1908810" y="395158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5" name="Label Publishers"/>
          <p:cNvSpPr txBox="1"/>
          <p:nvPr/>
        </p:nvSpPr>
        <p:spPr>
          <a:xfrm>
            <a:off x="129159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Publishers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&amp; case providers</a:t>
            </a:r>
            <a:endParaRPr lang="en-US" sz="1100" dirty="0"/>
          </a:p>
        </p:txBody>
      </p:sp>
      <p:sp>
        <p:nvSpPr>
          <p:cNvPr id="56" name="Dot Employee reps"/>
          <p:cNvSpPr/>
          <p:nvPr/>
        </p:nvSpPr>
        <p:spPr>
          <a:xfrm>
            <a:off x="3451860" y="395158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7" name="Label Employee reps"/>
          <p:cNvSpPr txBox="1"/>
          <p:nvPr/>
        </p:nvSpPr>
        <p:spPr>
          <a:xfrm>
            <a:off x="2834640" y="41618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Employee reps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works council</a:t>
            </a:r>
            <a:endParaRPr lang="en-US" sz="1100" dirty="0"/>
          </a:p>
        </p:txBody>
      </p:sp>
      <p:sp>
        <p:nvSpPr>
          <p:cNvPr id="58" name="Dot Corporate partners"/>
          <p:cNvSpPr/>
          <p:nvPr/>
        </p:nvSpPr>
        <p:spPr>
          <a:xfrm>
            <a:off x="4000500" y="5309464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9" name="Label Corporate partners"/>
          <p:cNvSpPr txBox="1"/>
          <p:nvPr/>
        </p:nvSpPr>
        <p:spPr>
          <a:xfrm>
            <a:off x="2510028" y="52911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chemeClr val="accent3"/>
                </a:solidFill>
              </a:rPr>
              <a:t>Corporate partners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503920" y="148132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50392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9006840" y="14630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Élodie Martin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Must redefine what a grade means when AI is allowed. Owns academic rules for everyone else.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503920" y="289864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50392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006840" y="28803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Restrictive faculty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Rewrite every syllabus and assessment. Today they ban AI per assignment.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503920" y="431596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50392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06840" y="42976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Laura Bianchi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Must settle logging and privacy with the works council — post-restructuring.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8503920" y="5486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Selection rule: highest effort × lowest readiness. Everyone else is equipped, informed or used as an ally.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MOVING THE CRITICAL FEW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 move the focus group through peers, not top-down mandates</a:t>
            </a:r>
            <a:endParaRPr lang="en-US" sz="2600" dirty="0"/>
          </a:p>
        </p:txBody>
      </p:sp>
      <p:sp>
        <p:nvSpPr>
          <p:cNvPr id="4" name="Map panel"/>
          <p:cNvSpPr/>
          <p:nvPr/>
        </p:nvSpPr>
        <p:spPr>
          <a:xfrm>
            <a:off x="1143000" y="1463040"/>
            <a:ext cx="685800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Focus quadrant"/>
          <p:cNvSpPr/>
          <p:nvPr/>
        </p:nvSpPr>
        <p:spPr>
          <a:xfrm>
            <a:off x="1143000" y="1463040"/>
            <a:ext cx="3429000" cy="22631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645920"/>
            <a:ext cx="0" cy="416052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726180"/>
            <a:ext cx="6492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Quadrant FOCUS HERE"/>
          <p:cNvSpPr txBox="1"/>
          <p:nvPr/>
        </p:nvSpPr>
        <p:spPr>
          <a:xfrm>
            <a:off x="12801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FOCUS HERE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Must change a lot · not equipped</a:t>
            </a:r>
            <a:endParaRPr lang="en-US" sz="1200" dirty="0"/>
          </a:p>
        </p:txBody>
      </p:sp>
      <p:sp>
        <p:nvSpPr>
          <p:cNvPr id="9" name="Quadrant EQUIP"/>
          <p:cNvSpPr txBox="1"/>
          <p:nvPr/>
        </p:nvSpPr>
        <p:spPr>
          <a:xfrm>
            <a:off x="54864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EQUIP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Willing · need tools &amp; clarity</a:t>
            </a:r>
            <a:endParaRPr lang="en-US" sz="1200" dirty="0"/>
          </a:p>
        </p:txBody>
      </p:sp>
      <p:sp>
        <p:nvSpPr>
          <p:cNvPr id="10" name="Quadrant INFORM"/>
          <p:cNvSpPr txBox="1"/>
          <p:nvPr/>
        </p:nvSpPr>
        <p:spPr>
          <a:xfrm>
            <a:off x="128016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INFORM</a:t>
            </a: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Don't invest · don't surprise</a:t>
            </a:r>
            <a:endParaRPr lang="en-US" sz="1200" dirty="0"/>
          </a:p>
        </p:txBody>
      </p:sp>
      <p:sp>
        <p:nvSpPr>
          <p:cNvPr id="11" name="Quadrant ALLIES"/>
          <p:cNvSpPr txBox="1"/>
          <p:nvPr/>
        </p:nvSpPr>
        <p:spPr>
          <a:xfrm>
            <a:off x="548640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ALLIES</a:t>
            </a:r>
            <a:endParaRPr lang="en-US" sz="1200" dirty="0"/>
          </a:p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Use them to move the focus group</a:t>
            </a:r>
            <a:endParaRPr lang="en-US" sz="1200" dirty="0"/>
          </a:p>
        </p:txBody>
      </p:sp>
      <p:sp>
        <p:nvSpPr>
          <p:cNvPr id="12" name="Y axis"/>
          <p:cNvSpPr/>
          <p:nvPr/>
        </p:nvSpPr>
        <p:spPr>
          <a:xfrm>
            <a:off x="978408" y="1325880"/>
            <a:ext cx="0" cy="4828032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3" name="X axis"/>
          <p:cNvSpPr/>
          <p:nvPr/>
        </p:nvSpPr>
        <p:spPr>
          <a:xfrm>
            <a:off x="978408" y="6153912"/>
            <a:ext cx="7205472" cy="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00400" y="6227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Readiness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6227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 rot="16200000">
            <a:off x="-804672" y="35890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Adaptation effort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109728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1097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Influence Pro-AI faculty → Restrictive faculty"/>
          <p:cNvSpPr/>
          <p:nvPr/>
        </p:nvSpPr>
        <p:spPr>
          <a:xfrm>
            <a:off x="2173406" y="2925026"/>
            <a:ext cx="3168924" cy="1076807"/>
          </a:xfrm>
          <a:custGeom>
            <a:avLst/>
            <a:gdLst/>
            <a:ahLst/>
            <a:cxnLst/>
            <a:rect l="l" t="t" r="r" b="b"/>
            <a:pathLst>
              <a:path w="3168924" h="1076807">
                <a:moveTo>
                  <a:pt x="3168924" y="1076807"/>
                </a:moveTo>
                <a:lnTo>
                  <a:pt x="0" y="0"/>
                </a:lnTo>
              </a:path>
            </a:pathLst>
          </a:custGeom>
          <a:ln w="571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Influence Pro-AI faculty → Élodie Martin"/>
          <p:cNvSpPr/>
          <p:nvPr/>
        </p:nvSpPr>
        <p:spPr>
          <a:xfrm>
            <a:off x="3546448" y="2440331"/>
            <a:ext cx="1818876" cy="1520580"/>
          </a:xfrm>
          <a:custGeom>
            <a:avLst/>
            <a:gdLst/>
            <a:ahLst/>
            <a:cxnLst/>
            <a:rect l="l" t="t" r="r" b="b"/>
            <a:pathLst>
              <a:path w="1818876" h="1520580">
                <a:moveTo>
                  <a:pt x="1818876" y="1520580"/>
                </a:moveTo>
                <a:lnTo>
                  <a:pt x="0" y="0"/>
                </a:lnTo>
              </a:path>
            </a:pathLst>
          </a:custGeom>
          <a:ln w="571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Influence Élodie Martin → Restrictive faculty"/>
          <p:cNvSpPr/>
          <p:nvPr/>
        </p:nvSpPr>
        <p:spPr>
          <a:xfrm>
            <a:off x="2170841" y="2369168"/>
            <a:ext cx="1115885" cy="431113"/>
          </a:xfrm>
          <a:custGeom>
            <a:avLst/>
            <a:gdLst/>
            <a:ahLst/>
            <a:cxnLst/>
            <a:rect l="l" t="t" r="r" b="b"/>
            <a:pathLst>
              <a:path w="1115885" h="431113">
                <a:moveTo>
                  <a:pt x="1115885" y="0"/>
                </a:moveTo>
                <a:lnTo>
                  <a:pt x="0" y="431113"/>
                </a:lnTo>
              </a:path>
            </a:pathLst>
          </a:custGeom>
          <a:ln w="571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Influence Students → Élodie Martin"/>
          <p:cNvSpPr/>
          <p:nvPr/>
        </p:nvSpPr>
        <p:spPr>
          <a:xfrm>
            <a:off x="3556529" y="2427092"/>
            <a:ext cx="3996299" cy="2765181"/>
          </a:xfrm>
          <a:custGeom>
            <a:avLst/>
            <a:gdLst/>
            <a:ahLst/>
            <a:cxnLst/>
            <a:rect l="l" t="t" r="r" b="b"/>
            <a:pathLst>
              <a:path w="3996299" h="2765181">
                <a:moveTo>
                  <a:pt x="3996299" y="2765181"/>
                </a:moveTo>
                <a:lnTo>
                  <a:pt x="0" y="0"/>
                </a:lnTo>
              </a:path>
            </a:pathLst>
          </a:custGeom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Influence Claire Moreau → Élodie Martin"/>
          <p:cNvSpPr/>
          <p:nvPr/>
        </p:nvSpPr>
        <p:spPr>
          <a:xfrm>
            <a:off x="3554905" y="2429400"/>
            <a:ext cx="3038939" cy="2172841"/>
          </a:xfrm>
          <a:custGeom>
            <a:avLst/>
            <a:gdLst/>
            <a:ahLst/>
            <a:cxnLst/>
            <a:rect l="l" t="t" r="r" b="b"/>
            <a:pathLst>
              <a:path w="3038939" h="2172841">
                <a:moveTo>
                  <a:pt x="3038939" y="2172841"/>
                </a:moveTo>
                <a:lnTo>
                  <a:pt x="0" y="0"/>
                </a:lnTo>
              </a:path>
            </a:pathLst>
          </a:custGeom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Influence Claire Moreau → Laura Bianchi"/>
          <p:cNvSpPr/>
          <p:nvPr/>
        </p:nvSpPr>
        <p:spPr>
          <a:xfrm>
            <a:off x="3774576" y="3176018"/>
            <a:ext cx="2809517" cy="1442219"/>
          </a:xfrm>
          <a:custGeom>
            <a:avLst/>
            <a:gdLst/>
            <a:ahLst/>
            <a:cxnLst/>
            <a:rect l="l" t="t" r="r" b="b"/>
            <a:pathLst>
              <a:path w="2809517" h="1442219">
                <a:moveTo>
                  <a:pt x="2809517" y="1442219"/>
                </a:moveTo>
                <a:lnTo>
                  <a:pt x="0" y="0"/>
                </a:lnTo>
              </a:path>
            </a:pathLst>
          </a:custGeom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Influence Legal / DPO → Laura Bianchi"/>
          <p:cNvSpPr/>
          <p:nvPr/>
        </p:nvSpPr>
        <p:spPr>
          <a:xfrm>
            <a:off x="3794583" y="3100540"/>
            <a:ext cx="1746805" cy="76859"/>
          </a:xfrm>
          <a:custGeom>
            <a:avLst/>
            <a:gdLst/>
            <a:ahLst/>
            <a:cxnLst/>
            <a:rect l="l" t="t" r="r" b="b"/>
            <a:pathLst>
              <a:path w="1746805" h="76859">
                <a:moveTo>
                  <a:pt x="1746805" y="76859"/>
                </a:moveTo>
                <a:lnTo>
                  <a:pt x="0" y="0"/>
                </a:lnTo>
              </a:path>
            </a:pathLst>
          </a:custGeom>
          <a:ln w="571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Influence Aisha Khan → Laura Bianchi"/>
          <p:cNvSpPr/>
          <p:nvPr/>
        </p:nvSpPr>
        <p:spPr>
          <a:xfrm>
            <a:off x="3782995" y="2413470"/>
            <a:ext cx="1629344" cy="614496"/>
          </a:xfrm>
          <a:custGeom>
            <a:avLst/>
            <a:gdLst/>
            <a:ahLst/>
            <a:cxnLst/>
            <a:rect l="l" t="t" r="r" b="b"/>
            <a:pathLst>
              <a:path w="1629344" h="614496">
                <a:moveTo>
                  <a:pt x="1629344" y="0"/>
                </a:moveTo>
                <a:lnTo>
                  <a:pt x="0" y="614496"/>
                </a:lnTo>
              </a:path>
            </a:pathLst>
          </a:custGeom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Dot Élodie Martin"/>
          <p:cNvSpPr/>
          <p:nvPr/>
        </p:nvSpPr>
        <p:spPr>
          <a:xfrm>
            <a:off x="3268980" y="2185873"/>
            <a:ext cx="274320" cy="274320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9" name="Label Élodie Martin"/>
          <p:cNvSpPr txBox="1"/>
          <p:nvPr/>
        </p:nvSpPr>
        <p:spPr>
          <a:xfrm>
            <a:off x="3616452" y="2131009"/>
            <a:ext cx="1036930" cy="384048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Élodie Martin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Academic Dean</a:t>
            </a:r>
            <a:endParaRPr lang="en-US" sz="1100" dirty="0"/>
          </a:p>
        </p:txBody>
      </p:sp>
      <p:sp>
        <p:nvSpPr>
          <p:cNvPr id="30" name="Dot Restrictive faculty"/>
          <p:cNvSpPr/>
          <p:nvPr/>
        </p:nvSpPr>
        <p:spPr>
          <a:xfrm>
            <a:off x="1863090" y="2729027"/>
            <a:ext cx="274320" cy="27432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1" name="Label Restrictive faculty"/>
          <p:cNvSpPr txBox="1"/>
          <p:nvPr/>
        </p:nvSpPr>
        <p:spPr>
          <a:xfrm>
            <a:off x="1267816" y="3030779"/>
            <a:ext cx="1464869" cy="384048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Restrictive faculty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&amp; programme directors</a:t>
            </a:r>
            <a:endParaRPr lang="en-US" sz="1100" dirty="0"/>
          </a:p>
        </p:txBody>
      </p:sp>
      <p:sp>
        <p:nvSpPr>
          <p:cNvPr id="32" name="Dot Laura Bianchi"/>
          <p:cNvSpPr/>
          <p:nvPr/>
        </p:nvSpPr>
        <p:spPr>
          <a:xfrm>
            <a:off x="3474720" y="2955341"/>
            <a:ext cx="274320" cy="274320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3" name="Label Laura Bianchi"/>
          <p:cNvSpPr txBox="1"/>
          <p:nvPr/>
        </p:nvSpPr>
        <p:spPr>
          <a:xfrm>
            <a:off x="3093415" y="3257093"/>
            <a:ext cx="1036930" cy="384048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Laura Bianchi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People &amp; Faculty</a:t>
            </a:r>
            <a:endParaRPr lang="en-US" sz="1100" dirty="0"/>
          </a:p>
        </p:txBody>
      </p:sp>
      <p:sp>
        <p:nvSpPr>
          <p:cNvPr id="34" name="Dot Pro-AI faculty"/>
          <p:cNvSpPr/>
          <p:nvPr/>
        </p:nvSpPr>
        <p:spPr>
          <a:xfrm>
            <a:off x="5372100" y="395158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Label Pro-AI faculty"/>
          <p:cNvSpPr txBox="1"/>
          <p:nvPr/>
        </p:nvSpPr>
        <p:spPr>
          <a:xfrm>
            <a:off x="4909414" y="4161892"/>
            <a:ext cx="1108253" cy="21945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Pro-AI faculty</a:t>
            </a:r>
            <a:endParaRPr lang="en-US" sz="1100" dirty="0"/>
          </a:p>
        </p:txBody>
      </p:sp>
      <p:sp>
        <p:nvSpPr>
          <p:cNvPr id="36" name="Dot Students"/>
          <p:cNvSpPr/>
          <p:nvPr/>
        </p:nvSpPr>
        <p:spPr>
          <a:xfrm>
            <a:off x="7566660" y="5173675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Label Students"/>
          <p:cNvSpPr txBox="1"/>
          <p:nvPr/>
        </p:nvSpPr>
        <p:spPr>
          <a:xfrm>
            <a:off x="6813194" y="5155387"/>
            <a:ext cx="680314" cy="21945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Students</a:t>
            </a:r>
            <a:endParaRPr lang="en-US" sz="1100" dirty="0"/>
          </a:p>
        </p:txBody>
      </p:sp>
      <p:sp>
        <p:nvSpPr>
          <p:cNvPr id="38" name="Dot Claire Moreau"/>
          <p:cNvSpPr/>
          <p:nvPr/>
        </p:nvSpPr>
        <p:spPr>
          <a:xfrm>
            <a:off x="6606540" y="4585259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Label Claire Moreau"/>
          <p:cNvSpPr txBox="1"/>
          <p:nvPr/>
        </p:nvSpPr>
        <p:spPr>
          <a:xfrm>
            <a:off x="6179515" y="4795571"/>
            <a:ext cx="1036930" cy="38404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Claire Moreau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President &amp; Dean</a:t>
            </a:r>
            <a:endParaRPr lang="en-US" sz="1100" dirty="0"/>
          </a:p>
        </p:txBody>
      </p:sp>
      <p:sp>
        <p:nvSpPr>
          <p:cNvPr id="40" name="Dot Legal / DPO"/>
          <p:cNvSpPr/>
          <p:nvPr/>
        </p:nvSpPr>
        <p:spPr>
          <a:xfrm>
            <a:off x="5577840" y="309158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Label Legal / DPO"/>
          <p:cNvSpPr txBox="1"/>
          <p:nvPr/>
        </p:nvSpPr>
        <p:spPr>
          <a:xfrm>
            <a:off x="5222138" y="3301898"/>
            <a:ext cx="894283" cy="21945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Legal / DPO</a:t>
            </a:r>
            <a:endParaRPr lang="en-US" sz="1100" dirty="0"/>
          </a:p>
        </p:txBody>
      </p:sp>
      <p:sp>
        <p:nvSpPr>
          <p:cNvPr id="42" name="Dot Aisha Khan"/>
          <p:cNvSpPr/>
          <p:nvPr/>
        </p:nvSpPr>
        <p:spPr>
          <a:xfrm>
            <a:off x="5440680" y="227685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Label Aisha Khan"/>
          <p:cNvSpPr txBox="1"/>
          <p:nvPr/>
        </p:nvSpPr>
        <p:spPr>
          <a:xfrm>
            <a:off x="5120640" y="2487168"/>
            <a:ext cx="822960" cy="38404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Aisha Khan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CIO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1463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ATTITUDE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18562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796528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218541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796528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Torn / neutral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03920" y="25146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96528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Against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503920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INFLUENCE  (arrow = who can move whom)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3474720"/>
            <a:ext cx="64008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281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Strong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503920" y="3803904"/>
            <a:ext cx="640080" cy="0"/>
          </a:xfrm>
          <a:prstGeom prst="line">
            <a:avLst/>
          </a:prstGeom>
          <a:noFill/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9281160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503920" y="4133088"/>
            <a:ext cx="6400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928116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Weak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503920" y="4526280"/>
            <a:ext cx="315468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732520" y="4663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Pro-AI faculty are our best asset: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they are peers of the people who must change most. Two of three critical stakeholders are torn, not opposed — they can be moved.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MOVING THE CRITICAL FEW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Élodie Martin must rebuild how Novaris grades — and she's torn</a:t>
            </a:r>
            <a:endParaRPr lang="en-US" sz="2600" dirty="0"/>
          </a:p>
        </p:txBody>
      </p:sp>
      <p:sp>
        <p:nvSpPr>
          <p:cNvPr id="4" name="Profile card"/>
          <p:cNvSpPr/>
          <p:nvPr/>
        </p:nvSpPr>
        <p:spPr>
          <a:xfrm>
            <a:off x="548640" y="1508760"/>
            <a:ext cx="3108960" cy="4526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Élodie Martin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Academic Dean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667512" cy="53035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6"/>
          <p:cNvSpPr/>
          <p:nvPr/>
        </p:nvSpPr>
        <p:spPr>
          <a:xfrm>
            <a:off x="1527048" y="3520440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1527048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Shape 9"/>
          <p:cNvSpPr/>
          <p:nvPr/>
        </p:nvSpPr>
        <p:spPr>
          <a:xfrm>
            <a:off x="1202436" y="3655771"/>
            <a:ext cx="146304" cy="14630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31720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High effort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Low readiness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Attitude: Torn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Sets the academic rules every programme follows.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5361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616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Why not ready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9776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Assessment assumes unassisted work: take-home essays, computer-based exams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school-endorsed tool can look like endorsing AI-written answers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Protective of academic independence — reads admin-led tech as overreach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36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478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 to do before the switch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Redefine what a grade certifies when AI is allowed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Redesign exam and take-home formats across programmes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 one disclosure rule faculty can actually enforce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9776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WHO CAN MOVE HER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77640" y="455371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29768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Pro-AI faculty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63640" y="4654296"/>
            <a:ext cx="73152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086600" y="4480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strong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977640" y="50292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297680" y="4956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Claire Moreau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63640" y="5129784"/>
            <a:ext cx="731520" cy="0"/>
          </a:xfrm>
          <a:prstGeom prst="line">
            <a:avLst/>
          </a:prstGeom>
          <a:noFill/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7086600" y="49560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medium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977640" y="5504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97680" y="5431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Students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63640" y="5605272"/>
            <a:ext cx="731520" cy="0"/>
          </a:xfrm>
          <a:prstGeom prst="line">
            <a:avLst/>
          </a:prstGeom>
          <a:noFill/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7086600" y="5431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medium</a:t>
            </a:r>
            <a:endParaRPr lang="en-US" sz="1000" dirty="0"/>
          </a:p>
        </p:txBody>
      </p:sp>
      <p:sp>
        <p:nvSpPr>
          <p:cNvPr id="34" name="First move"/>
          <p:cNvSpPr/>
          <p:nvPr/>
        </p:nvSpPr>
        <p:spPr>
          <a:xfrm>
            <a:off x="7863840" y="4069080"/>
            <a:ext cx="3794760" cy="1965960"/>
          </a:xfrm>
          <a:prstGeom prst="roundRect">
            <a:avLst>
              <a:gd name="adj" fmla="val 3721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2440" y="425196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 FIRST MOVE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her to chair a faculty co-design group; per-course AI settings (off / with disclosure / encouraged); logs never used to evaluate faculty.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MOVING THE CRITICAL FEW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Restrictive faculty carry the workload but have no tools for it yet</a:t>
            </a:r>
            <a:endParaRPr lang="en-US" sz="2600" dirty="0"/>
          </a:p>
        </p:txBody>
      </p:sp>
      <p:sp>
        <p:nvSpPr>
          <p:cNvPr id="4" name="Profile card"/>
          <p:cNvSpPr/>
          <p:nvPr/>
        </p:nvSpPr>
        <p:spPr>
          <a:xfrm>
            <a:off x="548640" y="1508760"/>
            <a:ext cx="3108960" cy="4526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Restrictive faculty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&amp; programme directors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667512" cy="53035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6"/>
          <p:cNvSpPr/>
          <p:nvPr/>
        </p:nvSpPr>
        <p:spPr>
          <a:xfrm>
            <a:off x="1527048" y="3520440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1527048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Shape 9"/>
          <p:cNvSpPr/>
          <p:nvPr/>
        </p:nvSpPr>
        <p:spPr>
          <a:xfrm>
            <a:off x="921258" y="3787445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31720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High effort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Low readiness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Attitude: Against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Where the change actually happens: in each course.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5361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616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Why not ready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9776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They ban AI per assignment today — no way to check or adapt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redesign workload lands on them, with no time or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Fear their course content leaks into a portal knowledge base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36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478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 to do before the switch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Rewrite syllabus and assignment rules course by course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Redesign assessments to stay valid with AI around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Teach students how to disclose and cite AI use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9776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WHO CAN MOVE THEM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77640" y="455371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29768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Pro-AI faculty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63640" y="4654296"/>
            <a:ext cx="73152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086600" y="4480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strong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977640" y="502920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297680" y="4956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Élodie Martin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63640" y="5129784"/>
            <a:ext cx="73152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7086600" y="49560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strong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977640" y="5504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97680" y="5431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Students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63640" y="5605272"/>
            <a:ext cx="7315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7086600" y="5431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weak</a:t>
            </a:r>
            <a:endParaRPr lang="en-US" sz="1000" dirty="0"/>
          </a:p>
        </p:txBody>
      </p:sp>
      <p:sp>
        <p:nvSpPr>
          <p:cNvPr id="34" name="First move"/>
          <p:cNvSpPr/>
          <p:nvPr/>
        </p:nvSpPr>
        <p:spPr>
          <a:xfrm>
            <a:off x="7863840" y="4069080"/>
            <a:ext cx="3794760" cy="1965960"/>
          </a:xfrm>
          <a:prstGeom prst="roundRect">
            <a:avLst>
              <a:gd name="adj" fmla="val 3721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2440" y="425196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 FIRST MOVE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Opt-in pilot where they keep an “AI off” switch; peer showcase run by pro-AI colleagues; no course content in a knowledge base in phase 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MOVING THE CRITICAL FEW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Laura Bianchi must settle logging before anything goes live</a:t>
            </a:r>
            <a:endParaRPr lang="en-US" sz="2600" dirty="0"/>
          </a:p>
        </p:txBody>
      </p:sp>
      <p:sp>
        <p:nvSpPr>
          <p:cNvPr id="4" name="Profile card"/>
          <p:cNvSpPr/>
          <p:nvPr/>
        </p:nvSpPr>
        <p:spPr>
          <a:xfrm>
            <a:off x="548640" y="1508760"/>
            <a:ext cx="3108960" cy="4526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Laura Bianchi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Director, People &amp; Faculty Affairs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667512" cy="53035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6"/>
          <p:cNvSpPr/>
          <p:nvPr/>
        </p:nvSpPr>
        <p:spPr>
          <a:xfrm>
            <a:off x="1527048" y="3520440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1527048" y="4087368"/>
            <a:ext cx="667512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Shape 9"/>
          <p:cNvSpPr/>
          <p:nvPr/>
        </p:nvSpPr>
        <p:spPr>
          <a:xfrm>
            <a:off x="1243584" y="3842309"/>
            <a:ext cx="146304" cy="14630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31720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High effort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Low readiness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Attitude: Torn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46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One monitoring headline can stop the project.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5361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616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Why not ready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9776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Post-restructuring: any “monitoring” story reignites works-council friction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Logging prompts and outputs can read as surveillance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decision yet on whether faculty and staff are in scope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36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47888" y="1508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 to do before the switch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19659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Define what is logged, kept, and who can see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Consult employee representatives before launch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Update staff policies if faculty and staff use the portal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9776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WHO CAN MOVE HER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77640" y="455371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29768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Legal / DPO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63640" y="4654296"/>
            <a:ext cx="73152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086600" y="4480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strong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977640" y="50292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297680" y="4956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Aisha Khan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63640" y="5129784"/>
            <a:ext cx="731520" cy="0"/>
          </a:xfrm>
          <a:prstGeom prst="line">
            <a:avLst/>
          </a:prstGeom>
          <a:noFill/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7086600" y="49560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medium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977640" y="5504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97680" y="5431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Claire Moreau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63640" y="5605272"/>
            <a:ext cx="731520" cy="0"/>
          </a:xfrm>
          <a:prstGeom prst="line">
            <a:avLst/>
          </a:prstGeom>
          <a:noFill/>
          <a:ln w="349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7086600" y="5431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medium</a:t>
            </a:r>
            <a:endParaRPr lang="en-US" sz="1000" dirty="0"/>
          </a:p>
        </p:txBody>
      </p:sp>
      <p:sp>
        <p:nvSpPr>
          <p:cNvPr id="34" name="First move"/>
          <p:cNvSpPr/>
          <p:nvPr/>
        </p:nvSpPr>
        <p:spPr>
          <a:xfrm>
            <a:off x="7863840" y="4069080"/>
            <a:ext cx="3794760" cy="1965960"/>
          </a:xfrm>
          <a:prstGeom prst="roundRect">
            <a:avLst>
              <a:gd name="adj" fmla="val 3721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2440" y="425196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 FIRST MOVE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Bring her in before the logging decision; students-only phase 1; privacy impact assessment with the DPO; written rule that logs never evaluate staff.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Our job is connecting the two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people who must change the most are the least prepared; the most prepared have the least to change.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51937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Recruit the channel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Pro-AI faculty and students carry the message to their peers.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51937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Remove blockers first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Assessment rules, logging limits, no course content in phase 1.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51937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Pilot, then re-map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One-semester Paris pilot; redraw this map at every phase gate.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BACKUP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Full stakeholder register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31520"/>
                <a:gridCol w="1005840"/>
                <a:gridCol w="914400"/>
                <a:gridCol w="1280160"/>
                <a:gridCol w="3749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Stakeholder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Int/Ext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Quadrant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Attitude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Interest today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What has to change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Élodie Martin — Academic Dean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Torn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Assessment model, grade meaning, disclosure rules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Restrictive faculty &amp; programme dirs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Against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Syllabi, assignment rules, exam formats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Laura Bianchi — People &amp; Faculty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Torn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Logging/privacy policy, works-council consultation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Aisha Khan — CIO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EQUIP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SSO, security, vendor and data classification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Rafael Mendes — Intl. campuses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EQUIP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Local adaptation for Singapore, São Paulo, Casablanca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Legal / DPO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EQUIP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Privacy impact assessment, vendor contracts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Library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EQUIP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Licence review for content in prompts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Marc Lefèvre — Sponsor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ALLIES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Little — owns delivery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Claire Moreau — President &amp; Dean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ALLIES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Little — strategic backing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Pro-AI faculty · Students · Transformation Office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ALLIES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Little — already adapted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Sophie Bernard — CFO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INFORM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Approve a bounded pilot with clear economics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Employee reps (works council)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INFORM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Consulted on logging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Board · Publishers · Corporate partners · Regulators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INFORM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Low ⚑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Not much — but must not be surprised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⚑ high impact + low interest = risk of being blindsided. All ratings are inferences from the case bios.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varis">
  <a:themeElements>
    <a:clrScheme name="Novaris">
      <a:dk1>
        <a:srgbClr val="1A1A1A"/>
      </a:dk1>
      <a:lt1>
        <a:srgbClr val="FFFFFF"/>
      </a:lt1>
      <a:dk2>
        <a:srgbClr val="5F5F5F"/>
      </a:dk2>
      <a:lt2>
        <a:srgbClr val="EFEFEF"/>
      </a:lt2>
      <a:accent1>
        <a:srgbClr val="D7263D"/>
      </a:accent1>
      <a:accent2>
        <a:srgbClr val="2E9E5B"/>
      </a:accent2>
      <a:accent3>
        <a:srgbClr val="9A9A9A"/>
      </a:accent3>
      <a:accent4>
        <a:srgbClr val="C9C9C9"/>
      </a:accent4>
      <a:accent5>
        <a:srgbClr val="FBE4E7"/>
      </a:accent5>
      <a:accent6>
        <a:srgbClr val="E6F4EC"/>
      </a:accent6>
      <a:hlink>
        <a:srgbClr val="D7263D"/>
      </a:hlink>
      <a:folHlink>
        <a:srgbClr val="8E1A2A"/>
      </a:folHlink>
    </a:clrScheme>
    <a:fontScheme name="Novar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Novaris AI Portal — Stakeholder analysis</dc:title>
  <dc:subject>PptxGenJS Presentation</dc:subject>
  <dc:creator>Anna Li</dc:creator>
  <cp:lastModifiedBy>Anna Li</cp:lastModifiedBy>
  <cp:revision>1</cp:revision>
  <dcterms:created xsi:type="dcterms:W3CDTF">2026-10-01T22:50:40Z</dcterms:created>
  <dcterms:modified xsi:type="dcterms:W3CDTF">2026-10-01T22:50:40Z</dcterms:modified>
</cp:coreProperties>
</file>